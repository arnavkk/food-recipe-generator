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12"/>
  </p:notesMasterIdLst>
  <p:handoutMasterIdLst>
    <p:handoutMasterId r:id="rId13"/>
  </p:handoutMasterIdLst>
  <p:sldIdLst>
    <p:sldId id="277" r:id="rId4"/>
    <p:sldId id="399" r:id="rId5"/>
    <p:sldId id="400" r:id="rId6"/>
    <p:sldId id="404" r:id="rId7"/>
    <p:sldId id="401" r:id="rId8"/>
    <p:sldId id="405" r:id="rId9"/>
    <p:sldId id="402" r:id="rId10"/>
    <p:sldId id="4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4" autoAdjust="0"/>
    <p:restoredTop sz="94660" autoAdjust="0"/>
  </p:normalViewPr>
  <p:slideViewPr>
    <p:cSldViewPr snapToGrid="0">
      <p:cViewPr varScale="1">
        <p:scale>
          <a:sx n="88" d="100"/>
          <a:sy n="88" d="100"/>
        </p:scale>
        <p:origin x="720"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053794"/>
            <a:ext cx="12196420" cy="43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698031" y="1476029"/>
            <a:ext cx="6829425" cy="2797237"/>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400" i="1" dirty="0">
                <a:solidFill>
                  <a:srgbClr val="000000"/>
                </a:solidFill>
              </a:rPr>
              <a:t>Submitted in the partial fulfillment for the award of the degree of</a:t>
            </a:r>
          </a:p>
          <a:p>
            <a:pPr algn="ctr">
              <a:lnSpc>
                <a:spcPct val="150000"/>
              </a:lnSpc>
            </a:pPr>
            <a:r>
              <a:rPr lang="en-US" sz="2400" b="1" dirty="0">
                <a:solidFill>
                  <a:srgbClr val="000000"/>
                </a:solidFill>
              </a:rPr>
              <a:t>BACHELOR OF ENGINEERING </a:t>
            </a:r>
            <a:endParaRPr lang="en-US" sz="2400" dirty="0">
              <a:solidFill>
                <a:srgbClr val="000000"/>
              </a:solidFill>
            </a:endParaRPr>
          </a:p>
          <a:p>
            <a:pPr algn="ctr">
              <a:lnSpc>
                <a:spcPct val="150000"/>
              </a:lnSpc>
            </a:pPr>
            <a:r>
              <a:rPr lang="en-US" sz="2400" i="1" dirty="0">
                <a:solidFill>
                  <a:srgbClr val="000000"/>
                </a:solidFill>
              </a:rPr>
              <a:t> IN</a:t>
            </a:r>
          </a:p>
          <a:p>
            <a:pPr algn="ctr">
              <a:lnSpc>
                <a:spcPct val="150000"/>
              </a:lnSpc>
            </a:pPr>
            <a:r>
              <a:rPr lang="en-US" sz="2400" b="1" dirty="0" smtClean="0">
                <a:solidFill>
                  <a:srgbClr val="000000"/>
                </a:solidFill>
              </a:rPr>
              <a:t>ARTIFICIAL INTELLIGENCE AND MACHINE LEARNING </a:t>
            </a:r>
            <a:endParaRPr lang="en-US" sz="2400" dirty="0">
              <a:solidFill>
                <a:srgbClr val="000000"/>
              </a:solidFill>
            </a:endParaRPr>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43345" y="6014156"/>
            <a:ext cx="5882609"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rgbClr val="FF0000"/>
                </a:solidFill>
                <a:latin typeface="Times New Roman" pitchFamily="18" charset="0"/>
                <a:cs typeface="Times New Roman" pitchFamily="18" charset="0"/>
              </a:rPr>
              <a:t>Department of AIT-CSE</a:t>
            </a:r>
            <a:endParaRPr lang="en-US" sz="1600" dirty="0">
              <a:solidFill>
                <a:srgbClr val="FF0000"/>
              </a:solidFill>
              <a:latin typeface="Times New Roman" pitchFamily="18" charset="0"/>
              <a:cs typeface="Times New Roman" pitchFamily="18" charset="0"/>
            </a:endParaRPr>
          </a:p>
        </p:txBody>
      </p:sp>
      <p:sp>
        <p:nvSpPr>
          <p:cNvPr id="26" name="TextBox 25"/>
          <p:cNvSpPr txBox="1">
            <a:spLocks noChangeArrowheads="1"/>
          </p:cNvSpPr>
          <p:nvPr/>
        </p:nvSpPr>
        <p:spPr bwMode="auto">
          <a:xfrm>
            <a:off x="1657138" y="443068"/>
            <a:ext cx="8477097"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Arial Black" pitchFamily="34" charset="0"/>
              </a:rPr>
              <a:t>Project title</a:t>
            </a:r>
            <a:endParaRPr lang="en-US" sz="3600" dirty="0">
              <a:latin typeface="Raleway ExtraBold" pitchFamily="34" charset="-52"/>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p:cNvSpPr txBox="1"/>
          <p:nvPr/>
        </p:nvSpPr>
        <p:spPr>
          <a:xfrm>
            <a:off x="1810941" y="4425075"/>
            <a:ext cx="2954976" cy="1631216"/>
          </a:xfrm>
          <a:prstGeom prst="rect">
            <a:avLst/>
          </a:prstGeom>
          <a:noFill/>
        </p:spPr>
        <p:txBody>
          <a:bodyPr wrap="none" rtlCol="0">
            <a:spAutoFit/>
          </a:bodyPr>
          <a:lstStyle/>
          <a:p>
            <a:r>
              <a:rPr lang="en-US" sz="2000" b="1" dirty="0"/>
              <a:t>Submitted by: </a:t>
            </a:r>
          </a:p>
          <a:p>
            <a:pPr algn="just"/>
            <a:r>
              <a:rPr lang="en-US" sz="2000" dirty="0" smtClean="0"/>
              <a:t>Chirag Verma 22BAI70345</a:t>
            </a:r>
            <a:r>
              <a:rPr lang="en-US" sz="2000" dirty="0" smtClean="0"/>
              <a:t> </a:t>
            </a:r>
            <a:endParaRPr lang="en-US" sz="2000" dirty="0"/>
          </a:p>
          <a:p>
            <a:pPr algn="just"/>
            <a:r>
              <a:rPr lang="en-US" sz="2000" dirty="0" smtClean="0"/>
              <a:t>Harsh Kamal   22BAI70297</a:t>
            </a:r>
            <a:endParaRPr lang="en-US" sz="2000" dirty="0"/>
          </a:p>
          <a:p>
            <a:pPr algn="just"/>
            <a:r>
              <a:rPr lang="en-US" sz="2000" dirty="0" smtClean="0"/>
              <a:t>Kannan            22BAI70318</a:t>
            </a:r>
          </a:p>
          <a:p>
            <a:pPr algn="just"/>
            <a:r>
              <a:rPr lang="en-US" sz="2000" dirty="0" err="1" smtClean="0"/>
              <a:t>Mohd</a:t>
            </a:r>
            <a:r>
              <a:rPr lang="en-US" sz="2000" dirty="0" smtClean="0"/>
              <a:t>. </a:t>
            </a:r>
            <a:r>
              <a:rPr lang="en-US" sz="2000" dirty="0" err="1" smtClean="0"/>
              <a:t>Rahil</a:t>
            </a:r>
            <a:r>
              <a:rPr lang="en-US" sz="2000" dirty="0" smtClean="0"/>
              <a:t>    22BAI70212</a:t>
            </a:r>
            <a:endParaRPr lang="en-US" sz="2000" dirty="0"/>
          </a:p>
        </p:txBody>
      </p:sp>
      <p:sp>
        <p:nvSpPr>
          <p:cNvPr id="6" name="TextBox 5"/>
          <p:cNvSpPr txBox="1"/>
          <p:nvPr/>
        </p:nvSpPr>
        <p:spPr>
          <a:xfrm>
            <a:off x="7681250" y="4725655"/>
            <a:ext cx="2971326" cy="1015663"/>
          </a:xfrm>
          <a:prstGeom prst="rect">
            <a:avLst/>
          </a:prstGeom>
          <a:noFill/>
        </p:spPr>
        <p:txBody>
          <a:bodyPr wrap="none" rtlCol="0">
            <a:spAutoFit/>
          </a:bodyPr>
          <a:lstStyle/>
          <a:p>
            <a:r>
              <a:rPr lang="en-US" sz="2000" b="1" dirty="0"/>
              <a:t>Under the Supervision of: </a:t>
            </a:r>
            <a:endParaRPr lang="en-US" sz="2000" dirty="0"/>
          </a:p>
          <a:p>
            <a:r>
              <a:rPr lang="en-US" sz="2000" dirty="0" err="1" smtClean="0"/>
              <a:t>Dayal</a:t>
            </a:r>
            <a:r>
              <a:rPr lang="en-US" sz="2000" dirty="0" smtClean="0"/>
              <a:t> Chandra Sati</a:t>
            </a:r>
            <a:r>
              <a:rPr lang="en-US" sz="2000" dirty="0" smtClean="0"/>
              <a:t> </a:t>
            </a:r>
            <a:endParaRPr lang="en-US" sz="2000" dirty="0"/>
          </a:p>
          <a:p>
            <a:endParaRPr lang="en-US" sz="2000" dirty="0"/>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r>
              <a:rPr lang="en-US" b="1" dirty="0">
                <a:latin typeface="Times New Roman"/>
                <a:cs typeface="Times New Roman"/>
              </a:rPr>
              <a:t>Outline</a:t>
            </a:r>
          </a:p>
        </p:txBody>
      </p:sp>
      <p:sp>
        <p:nvSpPr>
          <p:cNvPr id="3" name="Content Placeholder 2"/>
          <p:cNvSpPr>
            <a:spLocks noGrp="1"/>
          </p:cNvSpPr>
          <p:nvPr>
            <p:ph idx="1"/>
          </p:nvPr>
        </p:nvSpPr>
        <p:spPr>
          <a:xfrm>
            <a:off x="838200" y="1588220"/>
            <a:ext cx="10515600" cy="4952253"/>
          </a:xfrm>
        </p:spPr>
        <p:txBody>
          <a:bodyPr>
            <a:normAutofit/>
          </a:bodyPr>
          <a:lstStyle/>
          <a:p>
            <a:r>
              <a:rPr lang="en-US" dirty="0">
                <a:latin typeface="Times New Roman"/>
                <a:cs typeface="Times New Roman"/>
              </a:rPr>
              <a:t>Introduction to Project</a:t>
            </a:r>
          </a:p>
          <a:p>
            <a:r>
              <a:rPr lang="en-US" dirty="0">
                <a:latin typeface="Times New Roman"/>
                <a:cs typeface="Times New Roman"/>
              </a:rPr>
              <a:t>Problem Formulation</a:t>
            </a:r>
          </a:p>
          <a:p>
            <a:r>
              <a:rPr lang="en-US" dirty="0">
                <a:latin typeface="Times New Roman"/>
                <a:cs typeface="Times New Roman"/>
              </a:rPr>
              <a:t>Objectives of the work </a:t>
            </a:r>
          </a:p>
          <a:p>
            <a:r>
              <a:rPr lang="en-US" dirty="0">
                <a:latin typeface="Times New Roman"/>
                <a:cs typeface="Times New Roman"/>
              </a:rPr>
              <a:t>Methodology used</a:t>
            </a:r>
          </a:p>
          <a:p>
            <a:r>
              <a:rPr lang="en-US" spc="-10" dirty="0">
                <a:latin typeface="Times New Roman"/>
                <a:cs typeface="Times New Roman"/>
              </a:rPr>
              <a:t>Results and Outputs</a:t>
            </a:r>
          </a:p>
          <a:p>
            <a:r>
              <a:rPr lang="en-US" spc="-10" dirty="0">
                <a:latin typeface="Times New Roman"/>
                <a:cs typeface="Times New Roman"/>
              </a:rPr>
              <a:t>Conclusion</a:t>
            </a:r>
          </a:p>
          <a:p>
            <a:r>
              <a:rPr lang="en-US" dirty="0">
                <a:latin typeface="Times New Roman"/>
                <a:cs typeface="Times New Roman"/>
              </a:rPr>
              <a:t>Future Scope</a:t>
            </a:r>
          </a:p>
          <a:p>
            <a:r>
              <a:rPr lang="en-US" dirty="0">
                <a:latin typeface="Times New Roman"/>
                <a:cs typeface="Times New Roman"/>
              </a:rPr>
              <a:t>References</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Project</a:t>
            </a:r>
          </a:p>
        </p:txBody>
      </p:sp>
      <p:sp>
        <p:nvSpPr>
          <p:cNvPr id="3" name="Content Placeholder 2"/>
          <p:cNvSpPr>
            <a:spLocks noGrp="1"/>
          </p:cNvSpPr>
          <p:nvPr>
            <p:ph idx="1"/>
          </p:nvPr>
        </p:nvSpPr>
        <p:spPr/>
        <p:txBody>
          <a:bodyPr>
            <a:normAutofit fontScale="92500" lnSpcReduction="10000"/>
          </a:bodyPr>
          <a:lstStyle/>
          <a:p>
            <a:pPr algn="just"/>
            <a:r>
              <a:rPr lang="en-US" dirty="0"/>
              <a:t>In modern daily life, individuals frequently misplace personal objects such as keys, wallets, documents, electronic accessories, and other essential items. This problem arises not due to theft or permanent loss, but mainly because of human forgetfulness, routine changes, or contextual distractions. Locating such objects often becomes time-consuming, stressful, and inefficient.</a:t>
            </a:r>
          </a:p>
          <a:p>
            <a:pPr algn="just"/>
            <a:r>
              <a:rPr lang="en-US" dirty="0"/>
              <a:t>Existing solutions for lost object recovery primarily rely on physical tracking mechanisms such as Bluetooth tags, RFID chips, GPS modules, or camera-based surveillance systems. While these approaches provide some level of assistance, they introduce several limitations, including additional hardware costs, dependency on power sources, privacy concerns, and limited effectiveness when tracking devices are not attached to objects beforehand.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4</a:t>
            </a:fld>
            <a:endParaRPr lang="en-US"/>
          </a:p>
        </p:txBody>
      </p:sp>
      <p:sp>
        <p:nvSpPr>
          <p:cNvPr id="3"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Introduction to Project</a:t>
            </a:r>
            <a:endParaRPr lang="en-US" dirty="0"/>
          </a:p>
        </p:txBody>
      </p:sp>
      <p:sp>
        <p:nvSpPr>
          <p:cNvPr id="4" name="Content Placeholder 2"/>
          <p:cNvSpPr txBox="1">
            <a:spLocks/>
          </p:cNvSpPr>
          <p:nvPr/>
        </p:nvSpPr>
        <p:spPr>
          <a:xfrm>
            <a:off x="838200" y="1825625"/>
            <a:ext cx="10515600" cy="4351338"/>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Voice assistants available today can respond to simple commands, but they lack the intelligence to understand contextual memory or reason about previous object usage. They do not maintain a structured understanding of where objects are typically kept or how users interact with them during daily routines.</a:t>
            </a:r>
          </a:p>
          <a:p>
            <a:pPr algn="just"/>
            <a:r>
              <a:rPr lang="en-US" dirty="0"/>
              <a:t>Human memory, on the other hand, operates contextually — people tend to remember </a:t>
            </a:r>
            <a:r>
              <a:rPr lang="en-US" i="1" dirty="0"/>
              <a:t>when</a:t>
            </a:r>
            <a:r>
              <a:rPr lang="en-US" dirty="0"/>
              <a:t> and </a:t>
            </a:r>
            <a:r>
              <a:rPr lang="en-US" i="1" dirty="0"/>
              <a:t>how</a:t>
            </a:r>
            <a:r>
              <a:rPr lang="en-US" dirty="0"/>
              <a:t> they last used an object rather than its precise location. There is a clear gap between human cognitive behavior and existing technological solutions.</a:t>
            </a:r>
          </a:p>
          <a:p>
            <a:pPr algn="just"/>
            <a:r>
              <a:rPr lang="en-US" dirty="0"/>
              <a:t>This project addresses that gap by introducing an AI-based, voice-assisted system that leverages natural language processing and contextual memory to infer the probable location of lost objects, without relying on physical sensors or tracking hardware.</a:t>
            </a:r>
          </a:p>
        </p:txBody>
      </p:sp>
    </p:spTree>
    <p:extLst>
      <p:ext uri="{BB962C8B-B14F-4D97-AF65-F5344CB8AC3E}">
        <p14:creationId xmlns:p14="http://schemas.microsoft.com/office/powerpoint/2010/main" val="1746558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Formulation</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Despite advancements in artificial intelligence and voice technologies, locating misplaced objects remains a largely manual and inefficient process. The problem can be formulated as follows:</a:t>
            </a:r>
          </a:p>
          <a:p>
            <a:pPr algn="just"/>
            <a:r>
              <a:rPr lang="en-US" dirty="0"/>
              <a:t>Users frequently forget the exact location of objects due to contextual memory limitations.</a:t>
            </a:r>
          </a:p>
          <a:p>
            <a:pPr algn="just"/>
            <a:r>
              <a:rPr lang="en-US" dirty="0"/>
              <a:t>Existing technological solutions require prior hardware attachment or environmental sensing, which is not always practical.</a:t>
            </a:r>
          </a:p>
          <a:p>
            <a:pPr algn="just"/>
            <a:r>
              <a:rPr lang="en-US" dirty="0"/>
              <a:t>Voice assistants lack reasoning capabilities to infer object locations from past behavior.</a:t>
            </a:r>
          </a:p>
          <a:p>
            <a:pPr algn="just"/>
            <a:r>
              <a:rPr lang="en-US" dirty="0"/>
              <a:t>There is no intelligent system that mimics human-like recall by associating objects with routines, activities, and environments.</a:t>
            </a:r>
          </a:p>
          <a:p>
            <a:pPr algn="just"/>
            <a:r>
              <a:rPr lang="en-US" dirty="0"/>
              <a:t>Users require an intuitive, conversational interface rather than complex applications or physical alerts.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4093034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a:t>
            </a:r>
            <a:r>
              <a:rPr lang="en-US" dirty="0" err="1" smtClean="0"/>
              <a:t>Formlation</a:t>
            </a:r>
            <a:endParaRPr lang="en-US" dirty="0"/>
          </a:p>
        </p:txBody>
      </p:sp>
      <p:sp>
        <p:nvSpPr>
          <p:cNvPr id="3" name="Content Placeholder 2"/>
          <p:cNvSpPr>
            <a:spLocks noGrp="1"/>
          </p:cNvSpPr>
          <p:nvPr>
            <p:ph idx="1"/>
          </p:nvPr>
        </p:nvSpPr>
        <p:spPr/>
        <p:txBody>
          <a:bodyPr>
            <a:normAutofit/>
          </a:bodyPr>
          <a:lstStyle/>
          <a:p>
            <a:pPr marL="0" indent="0" algn="just">
              <a:buNone/>
            </a:pPr>
            <a:r>
              <a:rPr lang="en-US" sz="2600" dirty="0"/>
              <a:t>Therefore, the core problem is to develop a system that can understand user intent through voice input, reason over historical contextual data, and intelligently suggest probable locations of lost objects in a natural and user-friendly manner.</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3836085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a:t>
            </a:r>
            <a:r>
              <a:rPr lang="en-US"/>
              <a:t>of the Work</a:t>
            </a:r>
            <a:endParaRPr lang="en-US" dirty="0"/>
          </a:p>
        </p:txBody>
      </p:sp>
      <p:sp>
        <p:nvSpPr>
          <p:cNvPr id="3" name="Content Placeholder 2"/>
          <p:cNvSpPr>
            <a:spLocks noGrp="1"/>
          </p:cNvSpPr>
          <p:nvPr>
            <p:ph idx="1"/>
          </p:nvPr>
        </p:nvSpPr>
        <p:spPr/>
        <p:txBody>
          <a:bodyPr>
            <a:normAutofit fontScale="55000" lnSpcReduction="20000"/>
          </a:bodyPr>
          <a:lstStyle/>
          <a:p>
            <a:pPr marL="0" indent="0" algn="just">
              <a:buNone/>
            </a:pPr>
            <a:r>
              <a:rPr lang="en-US" sz="3800" dirty="0"/>
              <a:t>The main objectives of the proposed system are as follows:</a:t>
            </a:r>
          </a:p>
          <a:p>
            <a:pPr algn="just"/>
            <a:r>
              <a:rPr lang="en-US" sz="3800" dirty="0"/>
              <a:t>To design an AI-driven system capable of assisting users in locating lost or misplaced objects using voice interaction.</a:t>
            </a:r>
          </a:p>
          <a:p>
            <a:pPr algn="just"/>
            <a:r>
              <a:rPr lang="en-US" sz="3800" dirty="0"/>
              <a:t>To enable natural language understanding so users can describe objects and situations in free-form speech.</a:t>
            </a:r>
          </a:p>
          <a:p>
            <a:pPr algn="just"/>
            <a:r>
              <a:rPr lang="en-US" sz="3800" dirty="0"/>
              <a:t>To infer probable object locations based on historical usage patterns and contextual information.</a:t>
            </a:r>
          </a:p>
          <a:p>
            <a:pPr algn="just"/>
            <a:r>
              <a:rPr lang="en-US" sz="3800" dirty="0"/>
              <a:t>To eliminate dependency on physical tracking devices, cameras, or environmental sensors.</a:t>
            </a:r>
          </a:p>
          <a:p>
            <a:pPr algn="just"/>
            <a:r>
              <a:rPr lang="en-US" sz="3800" dirty="0"/>
              <a:t>To maintain a contextual memory database linking objects with locations, time, and user routines.</a:t>
            </a:r>
          </a:p>
          <a:p>
            <a:pPr algn="just"/>
            <a:r>
              <a:rPr lang="en-US" sz="3800" dirty="0"/>
              <a:t>To provide step-by-step voice guidance for efficient object retrieval.</a:t>
            </a:r>
          </a:p>
          <a:p>
            <a:pPr algn="just"/>
            <a:r>
              <a:rPr lang="en-US" sz="3800" dirty="0"/>
              <a:t>To continuously improve accuracy through user feedback and confirmation.</a:t>
            </a:r>
          </a:p>
          <a:p>
            <a:pPr algn="just"/>
            <a:r>
              <a:rPr lang="en-US" sz="3800" dirty="0"/>
              <a:t>To ensure privacy-preserving operation by avoiding continuous monitoring or surveillance</a:t>
            </a:r>
            <a:r>
              <a:rPr lang="en-US"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474965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15850040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6135</TotalTime>
  <Words>628</Words>
  <Application>Microsoft Office PowerPoint</Application>
  <PresentationFormat>Widescreen</PresentationFormat>
  <Paragraphs>58</Paragraphs>
  <Slides>8</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8</vt:i4>
      </vt:variant>
    </vt:vector>
  </HeadingPairs>
  <TitlesOfParts>
    <vt:vector size="20" baseType="lpstr">
      <vt:lpstr>Arial</vt:lpstr>
      <vt:lpstr>Arial Black</vt:lpstr>
      <vt:lpstr>Arial Unicode MS</vt:lpstr>
      <vt:lpstr>Calibri</vt:lpstr>
      <vt:lpstr>Calibri Light</vt:lpstr>
      <vt:lpstr>Casper</vt:lpstr>
      <vt:lpstr>Karla</vt:lpstr>
      <vt:lpstr>Raleway ExtraBold</vt:lpstr>
      <vt:lpstr>Times New Roman</vt:lpstr>
      <vt:lpstr>1_Office Theme</vt:lpstr>
      <vt:lpstr>2_Office Theme</vt:lpstr>
      <vt:lpstr>Contents Slide Master</vt:lpstr>
      <vt:lpstr>PowerPoint Presentation</vt:lpstr>
      <vt:lpstr>Outline</vt:lpstr>
      <vt:lpstr>Introduction to Project</vt:lpstr>
      <vt:lpstr>PowerPoint Presentation</vt:lpstr>
      <vt:lpstr>Problem Formulation</vt:lpstr>
      <vt:lpstr>Problem Formlation</vt:lpstr>
      <vt:lpstr>Objectives of the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Shubham Verma</cp:lastModifiedBy>
  <cp:revision>494</cp:revision>
  <dcterms:created xsi:type="dcterms:W3CDTF">2019-01-09T10:33:58Z</dcterms:created>
  <dcterms:modified xsi:type="dcterms:W3CDTF">2026-01-27T06:02:13Z</dcterms:modified>
</cp:coreProperties>
</file>